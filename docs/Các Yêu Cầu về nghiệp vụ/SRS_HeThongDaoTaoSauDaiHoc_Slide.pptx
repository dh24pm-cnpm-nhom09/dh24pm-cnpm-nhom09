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RPN</c:v>
                </c:pt>
              </c:strCache>
            </c:strRef>
          </c:tx>
          <c:spPr>
            <a:solidFill>
              <a:srgbClr val="C143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Sửa điểm sau khi đã khóa sổ</c:v>
                  </c:pt>
                  <c:pt idx="1">
                    <c:v>Đồng bộ văn bằng lên CSDL Bộ GD&amp;ĐT</c:v>
                  </c:pt>
                  <c:pt idx="2">
                    <c:v>Lộ danh tính phản biện độc lập (Tiến sĩ)</c:v>
                  </c:pt>
                  <c:pt idx="3">
                    <c:v>Phân công GVHD vượt định mức</c:v>
                  </c:pt>
                  <c:pt idx="4">
                    <c:v>Quá tải khi đăng ký học phần cao điểm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36</c:v>
                </c:pt>
                <c:pt idx="2">
                  <c:v>30</c:v>
                </c:pt>
                <c:pt idx="3">
                  <c:v>27</c:v>
                </c:pt>
                <c:pt idx="4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26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ln w="19050">
            <a:solidFill>
              <a:srgbClr val="141B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ln w="19050">
            <a:solidFill>
              <a:srgbClr val="2A35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TẢ YÊU CẦU PHẦN MỀM · SRS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Đào tạo</a:t>
            </a:r>
            <a:endParaRPr lang="en-US" sz="5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Đại học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Thông tư 53/2026/TT-BGDĐT — Quy chế tuyển sinh và đào tạo sau đại học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3657600" cy="0"/>
          </a:xfrm>
          <a:prstGeom prst="line">
            <a:avLst/>
          </a:prstGeom>
          <a:noFill/>
          <a:ln w="12700">
            <a:solidFill>
              <a:srgbClr val="3B44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74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 Đại học An Giang — Đại học Quốc gia TP. Hồ Chí Minh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9 thành viên · Phiên bản 1.0 · Tháng 8/2026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23157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THIỆU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749808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đích và bối cảnh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EAF1F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F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hóa toàn trình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29056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bộ quy trình tuyển sinh, đào tạo, đánh giá và cấp bằng Thạc sĩ, Tiến sĩ được chuyển lên nền tảng số.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68698" y="173736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EAF1FE"/>
          </a:solidFill>
          <a:ln/>
        </p:spPr>
      </p:sp>
      <p:sp>
        <p:nvSpPr>
          <p:cNvPr id="12" name="Text 10"/>
          <p:cNvSpPr/>
          <p:nvPr/>
        </p:nvSpPr>
        <p:spPr>
          <a:xfrm>
            <a:off x="4643018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F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43018" y="265176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căn cứ pháp lý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3018" y="3246120"/>
            <a:ext cx="29056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tư 53/2026/TT-BGDĐT là nền tảng nghiệp vụ duy nhất cho toàn bộ yêu cầu chức năng và phi chức năng.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7317" y="173736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EAF1FE"/>
          </a:solidFill>
          <a:ln/>
        </p:spPr>
      </p:sp>
      <p:sp>
        <p:nvSpPr>
          <p:cNvPr id="16" name="Text 14"/>
          <p:cNvSpPr/>
          <p:nvPr/>
        </p:nvSpPr>
        <p:spPr>
          <a:xfrm>
            <a:off x="8371637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F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71637" y="265176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nguồn tham chiếu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71637" y="3246120"/>
            <a:ext cx="29056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hợp nhất từ 9 phần việc cá nhân thành một nguồn tham chiếu duy nhất cho toàn nhóm phát triển.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0749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vi: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Tuyển sinh · Chương trình đào tạo · Đề tài &amp; GVHD · Hội đồng đánh giá · Bảo lưu/gia hạn · Tốt nghiệp · Bảo mật dữ liệu · Ứng dụng di động. 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Ngoài phạm vi: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toán học phí thực tế, hệ thống LMS, tuyển sinh đại học/cao đẳng.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23157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DÙNG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749808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kiến trúc, ba trải nghiệm riêng biệt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454298" cy="4206240"/>
          </a:xfrm>
          <a:prstGeom prst="roundRect">
            <a:avLst>
              <a:gd name="adj" fmla="val 2118"/>
            </a:avLst>
          </a:prstGeom>
          <a:solidFill>
            <a:srgbClr val="EAF1FE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91640"/>
            <a:ext cx="3454298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171700"/>
            <a:ext cx="3454298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801368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Cán bộ quản lý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222199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hóa hoàn toàn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2880360"/>
            <a:ext cx="299709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ĐTSĐH, Trưởng khoa, Hội đồng, Lãnh đạo nhà trường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còn rà soát thủ công từng hồ sơ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tự trích xuất dữ liệu, tính học phí, phát cảnh báo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68698" y="1691640"/>
            <a:ext cx="3454298" cy="4206240"/>
          </a:xfrm>
          <a:prstGeom prst="roundRect">
            <a:avLst>
              <a:gd name="adj" fmla="val 2118"/>
            </a:avLst>
          </a:prstGeom>
          <a:solidFill>
            <a:srgbClr val="EAF1FE"/>
          </a:solidFill>
          <a:ln/>
        </p:spPr>
      </p:sp>
      <p:sp>
        <p:nvSpPr>
          <p:cNvPr id="14" name="Shape 12"/>
          <p:cNvSpPr/>
          <p:nvPr/>
        </p:nvSpPr>
        <p:spPr>
          <a:xfrm>
            <a:off x="4368698" y="1691640"/>
            <a:ext cx="3454298" cy="960120"/>
          </a:xfrm>
          <a:prstGeom prst="roundRect">
            <a:avLst>
              <a:gd name="adj" fmla="val 7619"/>
            </a:avLst>
          </a:prstGeom>
          <a:solidFill>
            <a:srgbClr val="3A56B4"/>
          </a:solidFill>
          <a:ln/>
        </p:spPr>
      </p:sp>
      <p:sp>
        <p:nvSpPr>
          <p:cNvPr id="15" name="Shape 13"/>
          <p:cNvSpPr/>
          <p:nvPr/>
        </p:nvSpPr>
        <p:spPr>
          <a:xfrm>
            <a:off x="4368698" y="2171700"/>
            <a:ext cx="3454298" cy="480060"/>
          </a:xfrm>
          <a:prstGeom prst="rect">
            <a:avLst/>
          </a:prstGeom>
          <a:solidFill>
            <a:srgbClr val="3A56B4"/>
          </a:solidFill>
          <a:ln/>
        </p:spPr>
      </p:sp>
      <p:sp>
        <p:nvSpPr>
          <p:cNvPr id="16" name="Text 14"/>
          <p:cNvSpPr/>
          <p:nvPr/>
        </p:nvSpPr>
        <p:spPr>
          <a:xfrm>
            <a:off x="4597298" y="1801368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viên Thạc sĩ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97298" y="222199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Khuôn mẫu &amp; định hướng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97298" y="2880360"/>
            <a:ext cx="299709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theo khóa/lớp, chương trình đào tạo chung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Môn học bắt buộc được đánh dấu sẵn trong CTĐT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tín chỉ tích lũy và GPA theo thời gian thực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7317" y="1691640"/>
            <a:ext cx="3454298" cy="4206240"/>
          </a:xfrm>
          <a:prstGeom prst="roundRect">
            <a:avLst>
              <a:gd name="adj" fmla="val 2118"/>
            </a:avLst>
          </a:prstGeom>
          <a:solidFill>
            <a:srgbClr val="E3F6F1"/>
          </a:solidFill>
          <a:ln/>
        </p:spPr>
      </p:sp>
      <p:sp>
        <p:nvSpPr>
          <p:cNvPr id="20" name="Shape 18"/>
          <p:cNvSpPr/>
          <p:nvPr/>
        </p:nvSpPr>
        <p:spPr>
          <a:xfrm>
            <a:off x="8097317" y="1691640"/>
            <a:ext cx="3454298" cy="960120"/>
          </a:xfrm>
          <a:prstGeom prst="roundRect">
            <a:avLst>
              <a:gd name="adj" fmla="val 7619"/>
            </a:avLst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8097317" y="2171700"/>
            <a:ext cx="3454298" cy="4800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8325917" y="1801368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Nghiên cứu sinh Tiến sĩ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25917" y="222199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 nhân hóa tuyệt đối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25917" y="2880360"/>
            <a:ext cx="299709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gò bó theo chương trình đào tạo đại trà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thiết lập mốc nghiên cứu cùng GVHD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cương → chuyên đề → bài báo khoa học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23157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ĐÀO TẠO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749808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Thạc sĩ và Tiến sĩ: hai quy trình khác biệt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88920" y="1417320"/>
            <a:ext cx="4289908" cy="457200"/>
          </a:xfrm>
          <a:prstGeom prst="roundRect">
            <a:avLst>
              <a:gd name="adj" fmla="val 12000"/>
            </a:avLst>
          </a:prstGeom>
          <a:solidFill>
            <a:srgbClr val="3A56B4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1417320"/>
            <a:ext cx="4289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THẠC SĨ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261708" y="1417320"/>
            <a:ext cx="4289908" cy="457200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261708" y="1417320"/>
            <a:ext cx="4289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TIẾN SĨ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1984248"/>
            <a:ext cx="1965960" cy="96012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984248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kế hoạch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88920" y="1984248"/>
            <a:ext cx="4289908" cy="960120"/>
          </a:xfrm>
          <a:prstGeom prst="rect">
            <a:avLst/>
          </a:prstGeom>
          <a:solidFill>
            <a:srgbClr val="EAF1F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0088" y="1984248"/>
            <a:ext cx="3887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khóa/lớp, lập trước 3 học kỳ/năm theo template chung của khoa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261708" y="1984248"/>
            <a:ext cx="4289908" cy="960120"/>
          </a:xfrm>
          <a:prstGeom prst="rect">
            <a:avLst/>
          </a:prstGeom>
          <a:solidFill>
            <a:srgbClr val="E3F6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62876" y="1984248"/>
            <a:ext cx="3887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thiết kế mốc thời gian (milestones) nghiên cứu độc lập cùng GVHD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035808"/>
            <a:ext cx="1965960" cy="96012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035808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học phần /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tài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88920" y="3035808"/>
            <a:ext cx="4289908" cy="960120"/>
          </a:xfrm>
          <a:prstGeom prst="rect">
            <a:avLst/>
          </a:prstGeom>
          <a:solidFill>
            <a:srgbClr val="EAF1F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0088" y="3035808"/>
            <a:ext cx="3887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Môn học bắt buộc trong CTĐT được hệ thống tự động đánh dấu sẵn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61708" y="3035808"/>
            <a:ext cx="4289908" cy="960120"/>
          </a:xfrm>
          <a:prstGeom prst="rect">
            <a:avLst/>
          </a:prstGeom>
          <a:solidFill>
            <a:srgbClr val="E3F6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62876" y="3035808"/>
            <a:ext cx="3887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chuyên đề nghiên cứu riêng, không gò bó theo CTĐT đại trà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087368"/>
            <a:ext cx="1965960" cy="96012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087368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chính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88920" y="4087368"/>
            <a:ext cx="4289908" cy="960120"/>
          </a:xfrm>
          <a:prstGeom prst="rect">
            <a:avLst/>
          </a:prstGeom>
          <a:solidFill>
            <a:srgbClr val="EAF1F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0088" y="4087368"/>
            <a:ext cx="3887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giá theo tín chỉ; phụ phí nếu vượt thời gian đào tạo chuẩn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261708" y="4087368"/>
            <a:ext cx="4289908" cy="960120"/>
          </a:xfrm>
          <a:prstGeom prst="rect">
            <a:avLst/>
          </a:prstGeom>
          <a:solidFill>
            <a:srgbClr val="E3F6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62876" y="4087368"/>
            <a:ext cx="3887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phí theo từng đợt/giai đoạn nghiên cứu chuyên đề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138928"/>
            <a:ext cx="1965960" cy="96012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138928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Xét tốt nghiệp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788920" y="5138928"/>
            <a:ext cx="4289908" cy="960120"/>
          </a:xfrm>
          <a:prstGeom prst="rect">
            <a:avLst/>
          </a:prstGeom>
          <a:solidFill>
            <a:srgbClr val="EAF1F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90088" y="5138928"/>
            <a:ext cx="3887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kiểm tra đủ tín chỉ tích lũy (45–60 TC) + chuẩn ngoại ngữ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261708" y="5138928"/>
            <a:ext cx="4289908" cy="960120"/>
          </a:xfrm>
          <a:prstGeom prst="rect">
            <a:avLst/>
          </a:prstGeom>
          <a:solidFill>
            <a:srgbClr val="E3F6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62876" y="5138928"/>
            <a:ext cx="38875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công bố khoa học + bảo vệ luận án trước Hội đồng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23157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NGHIỆP VỤ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749808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hóa quy chế thành quy tắc tự động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mốc và ngưỡng trong Thông tư 53/2026/TT-BGDĐT được cấu hình thành tham số hệ thống — không hard-code — để kiểm soát tự động, xuyên suốt mọi phân hệ.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5318608" cy="1874520"/>
          </a:xfrm>
          <a:prstGeom prst="roundRect">
            <a:avLst>
              <a:gd name="adj" fmla="val 3902"/>
            </a:avLst>
          </a:prstGeom>
          <a:solidFill>
            <a:srgbClr val="F5F7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16712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671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QTNV-03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57400" y="2148840"/>
            <a:ext cx="367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mức GVHD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624328"/>
            <a:ext cx="486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GS/PGS ≤ 7 NCS, Tiến sĩ ≤ 5 NCS đang hướng dẫn cùng lúc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3273552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tự chặn phân công vượt định mức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3008" y="1965960"/>
            <a:ext cx="5318608" cy="1874520"/>
          </a:xfrm>
          <a:prstGeom prst="roundRect">
            <a:avLst>
              <a:gd name="adj" fmla="val 3902"/>
            </a:avLst>
          </a:prstGeom>
          <a:solidFill>
            <a:srgbClr val="F5F7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1608" y="216712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61608" y="21671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QTNV-04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50328" y="2148840"/>
            <a:ext cx="367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phê duyệt đề tài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61608" y="2624328"/>
            <a:ext cx="486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tài luận án Tiến sĩ phải duyệt trong 18 tháng từ ngày công nhận NCS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61608" y="3273552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Cảnh báo tự động ở mốc 3 tháng, 1 tháng, 1 tuần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5318608" cy="1874520"/>
          </a:xfrm>
          <a:prstGeom prst="roundRect">
            <a:avLst>
              <a:gd name="adj" fmla="val 3902"/>
            </a:avLst>
          </a:prstGeom>
          <a:solidFill>
            <a:srgbClr val="F5F7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2702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2702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QTNV-06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057400" y="4251960"/>
            <a:ext cx="367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bố lịch bảo vệ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4727448"/>
            <a:ext cx="486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buổi bảo vệ phải công khai tối thiểu 15 ngày trước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" y="5376672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Chặn tạo lịch nếu chưa đủ 15 ngày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33008" y="4069080"/>
            <a:ext cx="5318608" cy="1874520"/>
          </a:xfrm>
          <a:prstGeom prst="roundRect">
            <a:avLst>
              <a:gd name="adj" fmla="val 3902"/>
            </a:avLst>
          </a:prstGeom>
          <a:solidFill>
            <a:srgbClr val="F5F7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1608" y="42702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461608" y="42702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NFR-BM-04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650328" y="4251960"/>
            <a:ext cx="367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Khóa dữ liệu đã duyệt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61608" y="4727448"/>
            <a:ext cx="486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Điểm, quyết định, văn bằng đã ở trạng thái khóa/đã duyệt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61608" y="5376672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Chặn sửa/xóa — chỉ ghi thêm phiên bản mới + audit log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23157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749808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nhu cầu người dùng đến yêu cầu hệ thống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User Story bóc tách trực tiếp từ 33 yêu cầu chức năng (FR) đã hợp nhất trong SRS — mỗi US tham chiếu ngược mã FR gốc để truy vết.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318608" cy="1901952"/>
          </a:xfrm>
          <a:prstGeom prst="roundRect">
            <a:avLst>
              <a:gd name="adj" fmla="val 3846"/>
            </a:avLst>
          </a:prstGeom>
          <a:solidFill>
            <a:srgbClr val="F5F7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011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11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74520" y="2011680"/>
            <a:ext cx="385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US-02 · FR-TS-02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395728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Thí sinh, tôi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muốn nộp và cập nhật hồ sơ dự tuyển trực tuyến, 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để không phải nộp hồ sơ giấy tại trường.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227832"/>
            <a:ext cx="486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chấp nhận: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file văn bằng; sửa hồ sơ khi chưa “chốt”; validate định dạng file.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3008" y="1828800"/>
            <a:ext cx="5318608" cy="1901952"/>
          </a:xfrm>
          <a:prstGeom prst="roundRect">
            <a:avLst>
              <a:gd name="adj" fmla="val 3846"/>
            </a:avLst>
          </a:prstGeom>
          <a:solidFill>
            <a:srgbClr val="F5F7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1608" y="2011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3A56B4"/>
          </a:solidFill>
          <a:ln/>
        </p:spPr>
      </p:sp>
      <p:sp>
        <p:nvSpPr>
          <p:cNvPr id="16" name="Text 14"/>
          <p:cNvSpPr/>
          <p:nvPr/>
        </p:nvSpPr>
        <p:spPr>
          <a:xfrm>
            <a:off x="6461608" y="2011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FR-DT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467448" y="2011680"/>
            <a:ext cx="385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US-11 · FR-DT-02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61608" y="2395728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Cán bộ Phòng ĐTSĐH, tôi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muốn hệ thống tự kiểm tra định mức GVHD khi phân công, 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để không phân công vượt quy định.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61608" y="3227832"/>
            <a:ext cx="486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A5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chấp nhận: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Chặn phân công nếu vượt định mức; hiển thị cảnh báo rõ ràng.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5318608" cy="1901952"/>
          </a:xfrm>
          <a:prstGeom prst="roundRect">
            <a:avLst>
              <a:gd name="adj" fmla="val 3846"/>
            </a:avLst>
          </a:prstGeom>
          <a:solidFill>
            <a:srgbClr val="F5F7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1148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114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FR-ADM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74520" y="4114800"/>
            <a:ext cx="385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US-21 · FR-ADM-03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4498848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Cán bộ đào tạo, tôi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muốn import điểm từ Excel và khóa sổ điểm sau khi công bố, 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để dữ liệu điểm không bị chỉnh sửa trái phép sau khi khóa.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5330952"/>
            <a:ext cx="486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chấp nhận: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khi khóa, dữ liệu chỉ đọc ở tầng CSDL (không chỉ tầng ứng dụng).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33008" y="3931920"/>
            <a:ext cx="5318608" cy="1901952"/>
          </a:xfrm>
          <a:prstGeom prst="roundRect">
            <a:avLst>
              <a:gd name="adj" fmla="val 3846"/>
            </a:avLst>
          </a:prstGeom>
          <a:solidFill>
            <a:srgbClr val="F5F7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1608" y="41148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6461608" y="4114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FR-MOB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67448" y="4114800"/>
            <a:ext cx="385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US-28 · FR-MOB-02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61608" y="4498848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Học viên/NCS, tôi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muốn tra cứu và chọn GVHD ngay trên app, 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để chủ động tìm người hướng dẫn còn chỉ tiêu.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61608" y="5330952"/>
            <a:ext cx="486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chấp nhận: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Khóa nút “Chọn” nếu GVHD đã hết chỉ tiêu; tìm kiếm tức thời.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23157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BẢO MẬT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749808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phân quyền RBAC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130743" y="1234440"/>
            <a:ext cx="5930209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5875">
            <a:solidFill>
              <a:srgbClr val="E3E8F5"/>
            </a:solidFill>
            <a:prstDash val="solid"/>
          </a:ln>
        </p:spPr>
      </p:sp>
      <p:pic>
        <p:nvPicPr>
          <p:cNvPr id="8" name="Image 0" descr="/home/claude/pptx_build/assets/rb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7903" y="1371600"/>
            <a:ext cx="5655889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172200"/>
            <a:ext cx="78563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chính: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Người dùng khỏi Quyền hạn thông qua Vai trò — Phòng ĐTSĐH cấp/thu hồi quyền theo kỳ học mà không cần sửa mã nguồn.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496385" y="6172200"/>
            <a:ext cx="3055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Khảo sát &amp; Phân tích nghiệp vụ — Phần 4, Lê Phước Hào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23157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HỆ THỐNG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749808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To-Be: Microservices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52190"/>
            <a:ext cx="11185855" cy="3565100"/>
          </a:xfrm>
          <a:prstGeom prst="roundRect">
            <a:avLst>
              <a:gd name="adj" fmla="val 1539"/>
            </a:avLst>
          </a:prstGeom>
          <a:solidFill>
            <a:srgbClr val="FFFFFF"/>
          </a:solidFill>
          <a:ln w="15875">
            <a:solidFill>
              <a:srgbClr val="E3E8F5"/>
            </a:solidFill>
            <a:prstDash val="solid"/>
          </a:ln>
        </p:spPr>
      </p:sp>
      <p:pic>
        <p:nvPicPr>
          <p:cNvPr id="8" name="Image 0" descr="/home/claude/pptx_build/asse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89350"/>
            <a:ext cx="10911535" cy="32907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172200"/>
            <a:ext cx="78563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chính: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dịch vụ nghiệp vụ lõi (Tuyển sinh, Học thuật, Luận văn) đứng sau một API Gateway và Identity Service dùng chung; dữ liệu tách 3 tầng lưu trữ.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496385" y="6172200"/>
            <a:ext cx="3055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Khảo sát &amp; Phân tích nghiệp vụ — Phần 4, Lê Phước Hào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23157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 CHỨC NĂNG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749808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Use Case tổng thể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188828" y="1234440"/>
            <a:ext cx="5814039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5875">
            <a:solidFill>
              <a:srgbClr val="E3E8F5"/>
            </a:solidFill>
            <a:prstDash val="solid"/>
          </a:ln>
        </p:spPr>
      </p:sp>
      <p:pic>
        <p:nvPicPr>
          <p:cNvPr id="8" name="Image 0" descr="/home/claude/pptx_build/assets/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5988" y="1371600"/>
            <a:ext cx="5539719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172200"/>
            <a:ext cx="78563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chính: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nhóm tác nhân người dùng và 1 tác nhân hệ thống ngoài (CSDL Bộ GD&amp;ĐT) bao trùm toàn bộ vòng đời đào tạo — từ nộp hồ sơ đến cấp bằng.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496385" y="6172200"/>
            <a:ext cx="3055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Khảo sát &amp; Phân tích nghiệp vụ — Phần 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23157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DỮ LIỆU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749808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dữ liệu khái niệm (ERD)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102074" y="1234440"/>
            <a:ext cx="9987548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5875">
            <a:solidFill>
              <a:srgbClr val="E3E8F5"/>
            </a:solidFill>
            <a:prstDash val="solid"/>
          </a:ln>
        </p:spPr>
      </p:sp>
      <p:pic>
        <p:nvPicPr>
          <p:cNvPr id="8" name="Image 0" descr="/home/claude/pptx_build/assets/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234" y="1371600"/>
            <a:ext cx="9713228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172200"/>
            <a:ext cx="78563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chính: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thực thể chính; dữ liệu Điểm, Quyết định, Văn bằng đã khóa không được xóa vật lý — chỉ ghi thêm phiên bản mới (versioning).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496385" y="6172200"/>
            <a:ext cx="3055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Khảo sát &amp; Phân tích nghiệp vụ — Phần 2, Lâm Hoài An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23157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RỦI RO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749808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rủi ro ưu tiên xử lý — Ma trận FMEA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RPN (Risk Priority Number) = Mức nghiêm trọng × Khả năng xảy ra × Khả năng phát hiện. Điểm càng cao, càng cần xử lý sớm.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1828800"/>
          <a:ext cx="10693304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349240"/>
            <a:ext cx="10911535" cy="777240"/>
          </a:xfrm>
          <a:prstGeom prst="roundRect">
            <a:avLst>
              <a:gd name="adj" fmla="val 7059"/>
            </a:avLst>
          </a:prstGeom>
          <a:solidFill>
            <a:srgbClr val="EAF1FE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3492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Biện pháp kiểm soát chung: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khóa read-only ở tầng CSDL (không chỉ tầng ứng dụng) · ẩn danh 2 chiều ở tầng dữ liệu · cơ chế retry tự động · đối chiếu 2 người khi mở khóa lại.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23157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PHÁP LÝ &amp; ĐỊNH HƯỚNG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749808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Tuân thủ pháp lý và định hướng tiếp theo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272888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CĂN CỨ PHÁP LÝ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20370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75688"/>
            <a:ext cx="504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tư 53/2026/TT-BGDĐT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2350008"/>
            <a:ext cx="504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Căn cứ nghiệp vụ chính cho toàn bộ FR, NFR và quy tắc nghiệp vụ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1810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90088"/>
            <a:ext cx="504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Luật Bảo vệ dữ liệu cá nhân 2025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3264408"/>
            <a:ext cx="504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 thu thập, xử lý dữ liệu học viên/NCS/giảng viên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3250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04488"/>
            <a:ext cx="504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Luật Giao dịch điện tử 2023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4178808"/>
            <a:ext cx="504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trị pháp lý của chữ ký số quyết định, văn bằng điện tử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94690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818888"/>
            <a:ext cx="504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Luật Lưu trữ 2024 &amp; Luật ATTT mạng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5093208"/>
            <a:ext cx="504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trị pháp lý và an toàn của tài liệu lưu trữ điện tử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78728" y="1554480"/>
            <a:ext cx="5272888" cy="457200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278728" y="155448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HẠNG MỤC CÒN MỞ (TBD)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78728" y="2148840"/>
            <a:ext cx="5272888" cy="749808"/>
          </a:xfrm>
          <a:prstGeom prst="roundRect">
            <a:avLst>
              <a:gd name="adj" fmla="val 7317"/>
            </a:avLst>
          </a:prstGeom>
          <a:solidFill>
            <a:srgbClr val="E3F6F1"/>
          </a:solidFill>
          <a:ln/>
        </p:spPr>
      </p:sp>
      <p:sp>
        <p:nvSpPr>
          <p:cNvPr id="24" name="Text 22"/>
          <p:cNvSpPr/>
          <p:nvPr/>
        </p:nvSpPr>
        <p:spPr>
          <a:xfrm>
            <a:off x="6461608" y="2148840"/>
            <a:ext cx="490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Ngưỡng tỷ lệ trùng lặp chính thức và nội dung chi tiết các mẫu báo cáo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78728" y="3044952"/>
            <a:ext cx="5272888" cy="749808"/>
          </a:xfrm>
          <a:prstGeom prst="roundRect">
            <a:avLst>
              <a:gd name="adj" fmla="val 7317"/>
            </a:avLst>
          </a:prstGeom>
          <a:solidFill>
            <a:srgbClr val="E3F6F1"/>
          </a:solidFill>
          <a:ln/>
        </p:spPr>
      </p:sp>
      <p:sp>
        <p:nvSpPr>
          <p:cNvPr id="26" name="Text 24"/>
          <p:cNvSpPr/>
          <p:nvPr/>
        </p:nvSpPr>
        <p:spPr>
          <a:xfrm>
            <a:off x="6461608" y="3044952"/>
            <a:ext cx="490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Nhà cung cấp dịch vụ chữ ký số và hạ tầng Cloud cụ thể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78728" y="3941064"/>
            <a:ext cx="5272888" cy="749808"/>
          </a:xfrm>
          <a:prstGeom prst="roundRect">
            <a:avLst>
              <a:gd name="adj" fmla="val 7317"/>
            </a:avLst>
          </a:prstGeom>
          <a:solidFill>
            <a:srgbClr val="E3F6F1"/>
          </a:solidFill>
          <a:ln/>
        </p:spPr>
      </p:sp>
      <p:sp>
        <p:nvSpPr>
          <p:cNvPr id="28" name="Text 26"/>
          <p:cNvSpPr/>
          <p:nvPr/>
        </p:nvSpPr>
        <p:spPr>
          <a:xfrm>
            <a:off x="6461608" y="3941064"/>
            <a:ext cx="490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liệu SLA chính thức với đơn vị CNTT nhà trường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78728" y="4837176"/>
            <a:ext cx="5272888" cy="749808"/>
          </a:xfrm>
          <a:prstGeom prst="roundRect">
            <a:avLst>
              <a:gd name="adj" fmla="val 7317"/>
            </a:avLst>
          </a:prstGeom>
          <a:solidFill>
            <a:srgbClr val="E3F6F1"/>
          </a:solidFill>
          <a:ln/>
        </p:spPr>
      </p:sp>
      <p:sp>
        <p:nvSpPr>
          <p:cNvPr id="30" name="Text 28"/>
          <p:cNvSpPr/>
          <p:nvPr/>
        </p:nvSpPr>
        <p:spPr>
          <a:xfrm>
            <a:off x="6461608" y="4837176"/>
            <a:ext cx="490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là bước nền tảng cho một hệ thống có thể triển khai thực tế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ln w="19050">
            <a:solidFill>
              <a:srgbClr val="141B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663440"/>
            <a:ext cx="3840480" cy="3840480"/>
          </a:xfrm>
          <a:prstGeom prst="ellipse">
            <a:avLst/>
          </a:prstGeom>
          <a:ln w="19050">
            <a:solidFill>
              <a:srgbClr val="2A35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95264" y="196596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QUÝ THẦY CÔ VÀ HỘI ĐỒNG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 &amp; Đáp — Hệ thống Đào tạo Sau Đại học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67048" y="3977640"/>
            <a:ext cx="3657600" cy="0"/>
          </a:xfrm>
          <a:prstGeom prst="line">
            <a:avLst/>
          </a:prstGeom>
          <a:noFill/>
          <a:ln w="12700">
            <a:solidFill>
              <a:srgbClr val="3B44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09 · Trường Đại học An Giang · Đại học Quốc gia TP. Hồ Chí Minh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2026-08-24T08:37:34Z</dcterms:created>
  <dcterms:modified xsi:type="dcterms:W3CDTF">2026-08-24T08:37:34Z</dcterms:modified>
</cp:coreProperties>
</file>